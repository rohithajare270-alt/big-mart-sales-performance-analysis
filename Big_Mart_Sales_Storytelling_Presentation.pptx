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64" r:id="rId12"/>
    <p:sldId id="276" r:id="rId13"/>
    <p:sldId id="265" r:id="rId14"/>
    <p:sldId id="277" r:id="rId15"/>
    <p:sldId id="266" r:id="rId16"/>
    <p:sldId id="278" r:id="rId17"/>
    <p:sldId id="267" r:id="rId18"/>
    <p:sldId id="279" r:id="rId19"/>
    <p:sldId id="268" r:id="rId20"/>
    <p:sldId id="280" r:id="rId21"/>
    <p:sldId id="269" r:id="rId22"/>
    <p:sldId id="270" r:id="rId23"/>
    <p:sldId id="271" r:id="rId24"/>
    <p:sldId id="272" r:id="rId25"/>
    <p:sldId id="27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0414C2-5AC6-2715-FFB8-26950E636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85555"/>
            <a:ext cx="7772400" cy="962892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rgbClr val="FF0000"/>
                </a:solidFill>
                <a:latin typeface="Algerian" panose="04020705040A02060702" pitchFamily="82" charset="0"/>
              </a:rPr>
              <a:t>Big Mart 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Optimization &amp; Outlet Performance Strategy</a:t>
            </a:r>
          </a:p>
          <a:p>
            <a:r>
              <a:rPr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Rohit Hajare </a:t>
            </a:r>
            <a:r>
              <a:rPr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• Power Query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D6D347-F129-7E31-9E13-5067CF0E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591" y="-249379"/>
            <a:ext cx="4104409" cy="22132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6F554E-9D72-8D39-9471-8BB7CB318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Mart operates multiple outlet types across different city tiers.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performance varies significantly across outlets.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Uneven outlet performance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revenue drivers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Pricing and category optimization gaps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Strategic expansion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01243D-AD6E-E473-4D8F-390AA750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b="1" u="sng" dirty="0">
                <a:solidFill>
                  <a:srgbClr val="FF0000"/>
                </a:solidFill>
              </a:rPr>
              <a:t>Goals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Identify key factors impacting item-level sales</a:t>
            </a:r>
          </a:p>
          <a:p>
            <a:r>
              <a:rPr dirty="0"/>
              <a:t> Compare performance across outlet types and sizes</a:t>
            </a:r>
          </a:p>
          <a:p>
            <a:r>
              <a:rPr dirty="0"/>
              <a:t>Analyze pricing influence on revenue</a:t>
            </a:r>
          </a:p>
          <a:p>
            <a:r>
              <a:rPr dirty="0"/>
              <a:t> Provide actionable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226326-3A06-E09B-42BB-ED29C324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Dataset Overview</a:t>
            </a:r>
            <a:r>
              <a:rPr lang="en-IN" b="1" u="sng" dirty="0">
                <a:solidFill>
                  <a:srgbClr val="FF0000"/>
                </a:solidFill>
              </a:rPr>
              <a:t>0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latin typeface="+mj-lt"/>
                <a:cs typeface="Times New Roman" panose="02020603050405020304" pitchFamily="18" charset="0"/>
              </a:rPr>
              <a:t>Source: Big Mart Sales Dataset (Retail Data)</a:t>
            </a:r>
          </a:p>
          <a:p>
            <a:r>
              <a:rPr dirty="0">
                <a:latin typeface="+mj-lt"/>
                <a:cs typeface="Times New Roman" panose="02020603050405020304" pitchFamily="18" charset="0"/>
              </a:rPr>
              <a:t>Total Records: 8,523 products</a:t>
            </a:r>
          </a:p>
          <a:p>
            <a:r>
              <a:rPr dirty="0">
                <a:latin typeface="+mj-lt"/>
                <a:cs typeface="Times New Roman" panose="02020603050405020304" pitchFamily="18" charset="0"/>
              </a:rPr>
              <a:t>Total Features: 12 variables</a:t>
            </a:r>
          </a:p>
          <a:p>
            <a:r>
              <a:rPr dirty="0">
                <a:latin typeface="+mj-lt"/>
                <a:cs typeface="Times New Roman" panose="02020603050405020304" pitchFamily="18" charset="0"/>
              </a:rPr>
              <a:t>Includes item attributes, outlet attributes, and sales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452CE-ED49-863E-2B20-BB0239F7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Data Includes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Item Details: Type, MRP, Weight, Visibility</a:t>
            </a:r>
          </a:p>
          <a:p>
            <a:r>
              <a:rPr dirty="0"/>
              <a:t>Outlet Details: Type, Size, Location Tier, Establishment Year</a:t>
            </a:r>
          </a:p>
          <a:p>
            <a:r>
              <a:rPr dirty="0"/>
              <a:t>Sales Information: </a:t>
            </a:r>
            <a:r>
              <a:rPr dirty="0" err="1"/>
              <a:t>Item_Outlet_Sales</a:t>
            </a:r>
            <a:r>
              <a:rPr dirty="0"/>
              <a:t> (Target Variable)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359152-40E8-ECA1-E4E6-DF48DF686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Python – Data Cleaning &amp; EDA</a:t>
            </a:r>
          </a:p>
          <a:p>
            <a:r>
              <a:rPr dirty="0"/>
              <a:t>Power Query – Data Transformation</a:t>
            </a:r>
          </a:p>
          <a:p>
            <a:r>
              <a:rPr dirty="0"/>
              <a:t>Libraries: Pandas, NumPy, Matplotlib, Seaborn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3EBB53-9F81-930A-BA69-1AA4C9B36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Data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Handled missing values (</a:t>
            </a:r>
            <a:r>
              <a:rPr dirty="0" err="1"/>
              <a:t>Item_Weight</a:t>
            </a:r>
            <a:r>
              <a:rPr dirty="0"/>
              <a:t>, </a:t>
            </a:r>
            <a:r>
              <a:rPr dirty="0" err="1"/>
              <a:t>Outlet_Size</a:t>
            </a:r>
            <a:r>
              <a:rPr dirty="0"/>
              <a:t>)</a:t>
            </a:r>
          </a:p>
          <a:p>
            <a:r>
              <a:rPr dirty="0"/>
              <a:t> Treated zero visibility values</a:t>
            </a:r>
          </a:p>
          <a:p>
            <a:r>
              <a:rPr dirty="0"/>
              <a:t> Removed statistical outliers (IQR method)</a:t>
            </a:r>
          </a:p>
          <a:p>
            <a:r>
              <a:rPr dirty="0"/>
              <a:t> Verified data types and duplicates</a:t>
            </a:r>
          </a:p>
          <a:p>
            <a:r>
              <a:rPr dirty="0"/>
              <a:t> Created final clean dataset for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DA2EA9-7037-25DA-80DB-4A946BC76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673" y="-19554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Sales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9DD8E-1B64-AD00-70D3-18DB1F65B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26" y="1392382"/>
            <a:ext cx="8520547" cy="5465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B6AB33-5D1D-6D76-C13C-D4EB71AB4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AAB091-42E9-D7DE-8D39-CFE1754F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Distribution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A6BD8-9650-E897-09EC-3AA42953D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318" y="2311255"/>
            <a:ext cx="8229600" cy="3767428"/>
          </a:xfrm>
        </p:spPr>
        <p:txBody>
          <a:bodyPr/>
          <a:lstStyle/>
          <a:p>
            <a:r>
              <a:rPr lang="en-US" dirty="0"/>
              <a:t>Business Impact:</a:t>
            </a:r>
          </a:p>
          <a:p>
            <a:r>
              <a:rPr lang="en-US" dirty="0"/>
              <a:t> Sales distribution is positively skewed.</a:t>
            </a:r>
          </a:p>
          <a:p>
            <a:r>
              <a:rPr lang="en-US" dirty="0"/>
              <a:t> Majority of products generate moderate revenue.</a:t>
            </a:r>
          </a:p>
          <a:p>
            <a:r>
              <a:rPr lang="en-US" dirty="0"/>
              <a:t> Few high-performing products drive major revenue contribution.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11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844F2F-64F2-72C2-ECE7-63543E18F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8FD0E4-5F95-FBF6-0E0A-25DAF791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Correlation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40B0D0-FA9F-36E2-C72C-E4B0CADB0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0945" y="1600200"/>
            <a:ext cx="839585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7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707FCC-FDCC-45C4-4FB3-D953A9EC3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Correlation</a:t>
            </a:r>
            <a:r>
              <a:rPr lang="en-IN" b="1" u="sng" dirty="0">
                <a:solidFill>
                  <a:srgbClr val="FF0000"/>
                </a:solidFill>
              </a:rPr>
              <a:t>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[Insert Correlation Heatmap Here]</a:t>
            </a:r>
          </a:p>
          <a:p>
            <a:r>
              <a:rPr dirty="0"/>
              <a:t>Business Impact:</a:t>
            </a:r>
          </a:p>
          <a:p>
            <a:r>
              <a:rPr dirty="0"/>
              <a:t> </a:t>
            </a:r>
            <a:r>
              <a:rPr dirty="0" err="1"/>
              <a:t>Item_MRP</a:t>
            </a:r>
            <a:r>
              <a:rPr dirty="0"/>
              <a:t> shows strongest positive correlation with sales (~0.58).</a:t>
            </a:r>
          </a:p>
          <a:p>
            <a:r>
              <a:rPr dirty="0"/>
              <a:t> Visibility and weight show minimal impact.</a:t>
            </a:r>
          </a:p>
          <a:p>
            <a:r>
              <a:rPr dirty="0"/>
              <a:t> Pricing plays a crucial role in revenue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FE0F9A-368C-7652-F290-BC168FB1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B459ED-BDD5-2865-7E43-9C42045D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6307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Outlet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9F156-179F-1F09-7C86-10845A528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3291" y="1600201"/>
            <a:ext cx="8333509" cy="477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7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B25536-F4C7-CD82-00C1-F0FCBE382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928" y="731837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Outlet Type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Business Impact:</a:t>
            </a:r>
          </a:p>
          <a:p>
            <a:r>
              <a:rPr dirty="0"/>
              <a:t> Supermarket Type 3 generates highest revenue.</a:t>
            </a:r>
          </a:p>
          <a:p>
            <a:r>
              <a:rPr dirty="0"/>
              <a:t> Grocery stores show lowest sales performance.</a:t>
            </a:r>
          </a:p>
          <a:p>
            <a:r>
              <a:rPr dirty="0"/>
              <a:t> Outlet format significantly influences profitability.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8F81AC-B1F0-494C-8367-6E6B373C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138281-9367-52DA-8300-C561DB65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Outlet Size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71188C-906F-9062-C541-F71C0DDFC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585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03EE7-5290-67EC-3638-356EBA23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46138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Sales by Outlet Size</a:t>
            </a:r>
            <a:r>
              <a:rPr lang="en-IN" b="1" u="sng" dirty="0">
                <a:solidFill>
                  <a:srgbClr val="FF0000"/>
                </a:solidFill>
              </a:rPr>
              <a:t>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endParaRPr dirty="0"/>
          </a:p>
          <a:p>
            <a:r>
              <a:rPr dirty="0"/>
              <a:t>Business Impact:</a:t>
            </a:r>
          </a:p>
          <a:p>
            <a:r>
              <a:rPr dirty="0"/>
              <a:t>Medium-sized outlets outperform small outlets.</a:t>
            </a:r>
          </a:p>
          <a:p>
            <a:r>
              <a:rPr dirty="0"/>
              <a:t> Store size impacts revenue contribution.</a:t>
            </a:r>
          </a:p>
          <a:p>
            <a:r>
              <a:rPr dirty="0"/>
              <a:t> Optimal size strategy improves operational efficiency.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55228E-8C4A-B4F4-7782-864AFD2B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315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84DFB4-C5DE-5F52-076F-CB1CF260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Sales by Item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E06D73-3C9E-3423-A8FD-A7C0E992E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210" y="1600200"/>
            <a:ext cx="8614063" cy="507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57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B0A51E-7345-8D7D-50B4-98D68F9F7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6315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46702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Item Type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Business Impact:</a:t>
            </a:r>
          </a:p>
          <a:p>
            <a:r>
              <a:rPr dirty="0"/>
              <a:t> Starchy Foods &amp; Seafood show higher average sales.</a:t>
            </a:r>
          </a:p>
          <a:p>
            <a:r>
              <a:rPr dirty="0"/>
              <a:t> Sales distribution relatively balanced across categories.</a:t>
            </a:r>
          </a:p>
          <a:p>
            <a:r>
              <a:rPr dirty="0"/>
              <a:t> Category-level optimization can boost margins.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AF3B92-8809-5572-F8E5-1A070D5EE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D837AA-BBE9-08B5-BC9F-BEF38402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MRP vs Sales Relationship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6E7C57-2A28-ADBE-8EC6-70C3E7350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267691"/>
            <a:ext cx="8375073" cy="53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25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3AE4E-8CA6-D713-C0FD-7B7911C26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9" y="731837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MRP vs Sales Relationship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Business Impact:</a:t>
            </a:r>
          </a:p>
          <a:p>
            <a:r>
              <a:rPr dirty="0"/>
              <a:t> Strong positive relationship between price and sales.</a:t>
            </a:r>
          </a:p>
          <a:p>
            <a:r>
              <a:rPr dirty="0"/>
              <a:t> Higher-priced items tend to generate higher revenue.</a:t>
            </a:r>
          </a:p>
          <a:p>
            <a:r>
              <a:rPr dirty="0"/>
              <a:t> Pricing optimization can significantly increase profitability.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59A1CE-F26E-0EAD-3BA0-2F6B5DB74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D4EA77-70DE-B7E9-4FC4-68F956BE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Location Tier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BE5AC4-B750-4350-7C80-F06E6EDF7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199" y="1517073"/>
            <a:ext cx="8229601" cy="519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61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3A3804-85CE-0FBD-AE20-3013693CB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31837"/>
            <a:ext cx="8229600" cy="1143000"/>
          </a:xfrm>
        </p:spPr>
        <p:txBody>
          <a:bodyPr/>
          <a:lstStyle/>
          <a:p>
            <a:r>
              <a:rPr lang="en-IN" b="1" u="sng" dirty="0">
                <a:solidFill>
                  <a:srgbClr val="FF0000"/>
                </a:solidFill>
              </a:rPr>
              <a:t>Sales by Location Tier Insights</a:t>
            </a:r>
            <a:endParaRPr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Business Impact:</a:t>
            </a:r>
          </a:p>
          <a:p>
            <a:r>
              <a:rPr dirty="0"/>
              <a:t>Revenue varies across Tier 1, Tier 2, and Tier 3 cities.</a:t>
            </a:r>
          </a:p>
          <a:p>
            <a:r>
              <a:rPr dirty="0"/>
              <a:t>Location strategy influences sales stability.</a:t>
            </a:r>
          </a:p>
          <a:p>
            <a:r>
              <a:rPr dirty="0"/>
              <a:t>Data-driven expansion planning recommended.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D12114-5850-089F-06F3-BB7DF1DEB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537" y="846138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Key Business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Pricing is the strongest sales driver.</a:t>
            </a:r>
          </a:p>
          <a:p>
            <a:r>
              <a:rPr dirty="0"/>
              <a:t> Outlet format and size significantly impact performance.</a:t>
            </a:r>
          </a:p>
          <a:p>
            <a:r>
              <a:rPr dirty="0"/>
              <a:t>Revenue concentration among specific products.</a:t>
            </a:r>
          </a:p>
          <a:p>
            <a:r>
              <a:rPr dirty="0"/>
              <a:t> Strategic outlet expansion required.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89BD81-D942-5AAB-E300-667C70CF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9" y="736311"/>
            <a:ext cx="8229600" cy="1143000"/>
          </a:xfrm>
        </p:spPr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Optimize pricing strategy based on demand patterns.</a:t>
            </a:r>
          </a:p>
          <a:p>
            <a:r>
              <a:rPr dirty="0"/>
              <a:t> Expand high-performing outlet formats.</a:t>
            </a:r>
          </a:p>
          <a:p>
            <a:r>
              <a:rPr dirty="0"/>
              <a:t> Improve small outlet operational strategy.</a:t>
            </a:r>
          </a:p>
          <a:p>
            <a:r>
              <a:rPr dirty="0"/>
              <a:t> Focus marketing on high-performing categories.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A75C7-14A1-5979-07FF-979D24EA2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[Insert Dashboard Screenshot Here]</a:t>
            </a:r>
          </a:p>
          <a:p>
            <a:r>
              <a:t>Dashboard Sections:</a:t>
            </a:r>
          </a:p>
          <a:p>
            <a:r>
              <a:t>• KPI Overview</a:t>
            </a:r>
          </a:p>
          <a:p>
            <a:r>
              <a:t>• Outlet Performance</a:t>
            </a:r>
          </a:p>
          <a:p>
            <a:r>
              <a:t>• Category Analysis</a:t>
            </a:r>
          </a:p>
          <a:p>
            <a:r>
              <a:t>• Location Insights</a:t>
            </a:r>
          </a:p>
          <a:p>
            <a:r>
              <a:t>• Interactive Filters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DE7BC5-7D91-7234-1569-FA0499BD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630"/>
            <a:ext cx="9144000" cy="699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 Identified key sales performance drivers.</a:t>
            </a:r>
          </a:p>
          <a:p>
            <a:r>
              <a:rPr dirty="0"/>
              <a:t> Delivered actionable revenue optimization insights.</a:t>
            </a:r>
          </a:p>
          <a:p>
            <a:r>
              <a:rPr dirty="0"/>
              <a:t> Data-driven strategy supports business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586</Words>
  <Application>Microsoft Office PowerPoint</Application>
  <PresentationFormat>On-screen Show (4:3)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Algerian</vt:lpstr>
      <vt:lpstr>Arial</vt:lpstr>
      <vt:lpstr>Calibri</vt:lpstr>
      <vt:lpstr>Times New Roman</vt:lpstr>
      <vt:lpstr>Office Theme</vt:lpstr>
      <vt:lpstr>Big Mart Sales Performance Analysis</vt:lpstr>
      <vt:lpstr>Business Problem</vt:lpstr>
      <vt:lpstr>Goals &amp; Objectives</vt:lpstr>
      <vt:lpstr>Dataset Overview0</vt:lpstr>
      <vt:lpstr>Data Includes</vt:lpstr>
      <vt:lpstr>Tools Used</vt:lpstr>
      <vt:lpstr>Data Cleaning Summary</vt:lpstr>
      <vt:lpstr>Sales Distribution</vt:lpstr>
      <vt:lpstr>Sales Distribution Insights</vt:lpstr>
      <vt:lpstr>Correlation Analysis</vt:lpstr>
      <vt:lpstr>Correlation insights</vt:lpstr>
      <vt:lpstr>Sales by Outlet Type</vt:lpstr>
      <vt:lpstr>Sales by Outlet Type insights</vt:lpstr>
      <vt:lpstr>Sales by Outlet Size</vt:lpstr>
      <vt:lpstr>Sales by Outlet Size insights</vt:lpstr>
      <vt:lpstr>Sales by Item Type</vt:lpstr>
      <vt:lpstr>Sales by Item Type Insights</vt:lpstr>
      <vt:lpstr>MRP vs Sales Relationship</vt:lpstr>
      <vt:lpstr>MRP vs Sales Relationship Insights</vt:lpstr>
      <vt:lpstr>Sales by Location Tier</vt:lpstr>
      <vt:lpstr>Sales by Location Tier Insights</vt:lpstr>
      <vt:lpstr>Key Business Takeaways</vt:lpstr>
      <vt:lpstr>Business Recommendations</vt:lpstr>
      <vt:lpstr>Tableau Dashboard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Hajare</dc:creator>
  <cp:keywords/>
  <dc:description>generated using python-pptx</dc:description>
  <cp:lastModifiedBy>Rohit Hajare</cp:lastModifiedBy>
  <cp:revision>2</cp:revision>
  <dcterms:created xsi:type="dcterms:W3CDTF">2013-01-27T09:14:16Z</dcterms:created>
  <dcterms:modified xsi:type="dcterms:W3CDTF">2026-02-27T13:58:06Z</dcterms:modified>
  <cp:category/>
</cp:coreProperties>
</file>